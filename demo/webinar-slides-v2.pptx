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X/L8A94ySgQdpNQwQv4bEaby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DFC"/>
    <a:srgbClr val="5B8AF5"/>
    <a:srgbClr val="3D5AE0"/>
    <a:srgbClr val="1E2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/>
    <p:restoredTop sz="94658"/>
  </p:normalViewPr>
  <p:slideViewPr>
    <p:cSldViewPr snapToGrid="0">
      <p:cViewPr varScale="1">
        <p:scale>
          <a:sx n="160" d="100"/>
          <a:sy n="160" d="100"/>
        </p:scale>
        <p:origin x="10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E022D37-D2E5-CE88-C73A-155591BB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5B87C858-0D3E-0EBF-F4B7-71C2BCEE0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B2F490E0-8A58-2C15-2DF6-78423C079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C1E63E49-065E-BC75-7B11-EBE531A638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756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1C62C-DEDE-82CC-C1F6-9BC806DACE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62450" y="63500"/>
            <a:ext cx="44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766560" y="-548640"/>
            <a:ext cx="3474720" cy="3474720"/>
          </a:xfrm>
          <a:prstGeom prst="ellipse">
            <a:avLst/>
          </a:prstGeom>
          <a:solidFill>
            <a:srgbClr val="252F7A"/>
          </a:solidFill>
          <a:ln w="12700" cap="flat" cmpd="sng">
            <a:solidFill>
              <a:srgbClr val="252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WEBINAR</a:t>
            </a:r>
            <a:endParaRPr sz="9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1061" y="1188780"/>
            <a:ext cx="75750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Product OS: Building a Full AI-Native Workflow Live in Cursor </a:t>
            </a: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4131" y="2496372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From product context to user stories—live, traceable, and AI-grounded</a:t>
            </a:r>
            <a:endParaRPr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754880"/>
            <a:ext cx="8229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ADCFC"/>
              </a:buClr>
              <a:buSzPts val="1100"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  · 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Leader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 · 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7099" y="758952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DDB991-394A-38CD-BCB4-EC6AEDD57C5D}"/>
              </a:ext>
            </a:extLst>
          </p:cNvPr>
          <p:cNvSpPr/>
          <p:nvPr/>
        </p:nvSpPr>
        <p:spPr>
          <a:xfrm>
            <a:off x="6632448" y="2194560"/>
            <a:ext cx="1840992" cy="2267712"/>
          </a:xfrm>
          <a:prstGeom prst="rect">
            <a:avLst/>
          </a:prstGeom>
          <a:solidFill>
            <a:srgbClr val="CADD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30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47472" y="256032"/>
            <a:ext cx="124358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47472" y="274320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ABOUT ME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47472" y="62179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</a:t>
            </a:r>
            <a:endParaRPr sz="3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1261872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Leader | Former VP Product &amp; Managing Director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347472" y="1664208"/>
            <a:ext cx="5303520" cy="36576"/>
          </a:xfrm>
          <a:prstGeom prst="rect">
            <a:avLst/>
          </a:prstGeom>
          <a:solidFill>
            <a:srgbClr val="2E3D80"/>
          </a:solidFill>
          <a:ln w="12700" cap="flat" cmpd="sng">
            <a:solidFill>
              <a:srgbClr val="2E3D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472" y="38082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749807" y="1847088"/>
            <a:ext cx="34577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Built &amp; Scaled at Product Companies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749808" y="205673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20+ years building and scaling digital products — from large corporates to early-stage ventures to NASDAQ-listed trivago</a:t>
            </a:r>
          </a:p>
        </p:txBody>
      </p:sp>
      <p:pic>
        <p:nvPicPr>
          <p:cNvPr id="39" name="Google Shape;3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472" y="2551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49808" y="25054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Operated at Scale</a:t>
            </a:r>
          </a:p>
        </p:txBody>
      </p:sp>
      <p:sp>
        <p:nvSpPr>
          <p:cNvPr id="41" name="Google Shape;41;p2"/>
          <p:cNvSpPr/>
          <p:nvPr/>
        </p:nvSpPr>
        <p:spPr>
          <a:xfrm>
            <a:off x="749808" y="277474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500K+ MAU · €15M+ ARR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Multi-market expansion across 20+ countries</a:t>
            </a: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32095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49808" y="31638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Scope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749808" y="341985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Navigation · Mobility · SaaS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B2B, B2C, OEM &amp; Freemium models</a:t>
            </a: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195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49808" y="43708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Now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9808" y="463349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ADCFC"/>
              </a:buClr>
              <a:buSzPts val="1100"/>
            </a:pP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lang="en-US" sz="1100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Independent · Advisory &amp; execution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123C05-9AD8-720E-B0BF-EADC0C0CC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3368" y="3476577"/>
            <a:ext cx="1310136" cy="34747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069BC9A-7541-A2DC-96D5-CA11D9054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3368" y="2422498"/>
            <a:ext cx="1071988" cy="3031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1CF6F2-247A-F560-7BE0-8B8A80A48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3368" y="2927127"/>
            <a:ext cx="809177" cy="288992"/>
          </a:xfrm>
          <a:prstGeom prst="rect">
            <a:avLst/>
          </a:prstGeom>
        </p:spPr>
      </p:pic>
      <p:sp>
        <p:nvSpPr>
          <p:cNvPr id="11" name="Google Shape;43;p2">
            <a:extLst>
              <a:ext uri="{FF2B5EF4-FFF2-40B4-BE49-F238E27FC236}">
                <a16:creationId xmlns:a16="http://schemas.microsoft.com/office/drawing/2014/main" id="{AFA5C31E-8251-58E0-2345-775C8CBA4612}"/>
              </a:ext>
            </a:extLst>
          </p:cNvPr>
          <p:cNvSpPr/>
          <p:nvPr/>
        </p:nvSpPr>
        <p:spPr>
          <a:xfrm>
            <a:off x="749808" y="378077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Leadership</a:t>
            </a:r>
          </a:p>
        </p:txBody>
      </p:sp>
      <p:sp>
        <p:nvSpPr>
          <p:cNvPr id="12" name="Google Shape;44;p2">
            <a:extLst>
              <a:ext uri="{FF2B5EF4-FFF2-40B4-BE49-F238E27FC236}">
                <a16:creationId xmlns:a16="http://schemas.microsoft.com/office/drawing/2014/main" id="{E48FA898-99E8-969E-8E74-BBD5C728CD29}"/>
              </a:ext>
            </a:extLst>
          </p:cNvPr>
          <p:cNvSpPr/>
          <p:nvPr/>
        </p:nvSpPr>
        <p:spPr>
          <a:xfrm>
            <a:off x="749808" y="404343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VP Product &amp; Managing Director roles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Partnered with founders &amp; executive teams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EA69E36-C2D7-3F51-00BD-BBFE521B2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3368" y="4104384"/>
            <a:ext cx="1310136" cy="133687"/>
          </a:xfrm>
          <a:prstGeom prst="rect">
            <a:avLst/>
          </a:prstGeom>
        </p:spPr>
      </p:pic>
      <p:sp>
        <p:nvSpPr>
          <p:cNvPr id="15" name="Google Shape;216;p7">
            <a:extLst>
              <a:ext uri="{FF2B5EF4-FFF2-40B4-BE49-F238E27FC236}">
                <a16:creationId xmlns:a16="http://schemas.microsoft.com/office/drawing/2014/main" id="{48AFEA72-2236-73B5-868C-EDF65D0783D1}"/>
              </a:ext>
            </a:extLst>
          </p:cNvPr>
          <p:cNvSpPr/>
          <p:nvPr/>
        </p:nvSpPr>
        <p:spPr>
          <a:xfrm>
            <a:off x="278560" y="229527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</a:t>
            </a:r>
            <a:r>
              <a:rPr lang="en-US" sz="1100" b="0" i="1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9F56AC36-678B-5236-81AE-3F71F06A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9D83A6BA-9A95-9DCB-7693-7B196779E07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>
            <a:extLst>
              <a:ext uri="{FF2B5EF4-FFF2-40B4-BE49-F238E27FC236}">
                <a16:creationId xmlns:a16="http://schemas.microsoft.com/office/drawing/2014/main" id="{52A943FD-1642-79FE-1DCD-CA90A8BF2D9B}"/>
              </a:ext>
            </a:extLst>
          </p:cNvPr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1F176617-D9AF-6184-DBD1-6104A3786FB6}"/>
              </a:ext>
            </a:extLst>
          </p:cNvPr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PM ROLE</a:t>
            </a:r>
            <a:endParaRPr sz="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3B145B6D-47DA-AF24-D1CE-B95311639EE7}"/>
              </a:ext>
            </a:extLst>
          </p:cNvPr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Same role title – Different Shape</a:t>
            </a:r>
            <a:endParaRPr sz="3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9443B2A4-085C-E785-53C5-89F0FA11AFAA}"/>
              </a:ext>
            </a:extLst>
          </p:cNvPr>
          <p:cNvSpPr>
            <a:spLocks/>
          </p:cNvSpPr>
          <p:nvPr/>
        </p:nvSpPr>
        <p:spPr>
          <a:xfrm>
            <a:off x="635333" y="1267944"/>
            <a:ext cx="3727262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26670363-4832-B867-D43E-F2723471581B}"/>
              </a:ext>
            </a:extLst>
          </p:cNvPr>
          <p:cNvSpPr/>
          <p:nvPr/>
        </p:nvSpPr>
        <p:spPr>
          <a:xfrm>
            <a:off x="1087158" y="2226493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Monthly calendar with solid fill">
            <a:extLst>
              <a:ext uri="{FF2B5EF4-FFF2-40B4-BE49-F238E27FC236}">
                <a16:creationId xmlns:a16="http://schemas.microsoft.com/office/drawing/2014/main" id="{CF8621ED-2952-9E3B-9E1C-6DFF8331F216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6886" y="2351629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>
            <a:extLst>
              <a:ext uri="{FF2B5EF4-FFF2-40B4-BE49-F238E27FC236}">
                <a16:creationId xmlns:a16="http://schemas.microsoft.com/office/drawing/2014/main" id="{155392D0-C899-5FB4-FA49-5ADC325D7400}"/>
              </a:ext>
            </a:extLst>
          </p:cNvPr>
          <p:cNvSpPr/>
          <p:nvPr/>
        </p:nvSpPr>
        <p:spPr>
          <a:xfrm>
            <a:off x="1494869" y="1560552"/>
            <a:ext cx="200079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Manager</a:t>
            </a:r>
            <a:endParaRPr sz="1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4638E0C9-4E66-3BA8-E323-9287E24E1A55}"/>
              </a:ext>
            </a:extLst>
          </p:cNvPr>
          <p:cNvSpPr/>
          <p:nvPr/>
        </p:nvSpPr>
        <p:spPr>
          <a:xfrm>
            <a:off x="970171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Own the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Roadmap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72;p3">
            <a:extLst>
              <a:ext uri="{FF2B5EF4-FFF2-40B4-BE49-F238E27FC236}">
                <a16:creationId xmlns:a16="http://schemas.microsoft.com/office/drawing/2014/main" id="{3A1F0574-BD64-BAB6-706C-B60E4A01CD25}"/>
              </a:ext>
            </a:extLst>
          </p:cNvPr>
          <p:cNvSpPr/>
          <p:nvPr/>
        </p:nvSpPr>
        <p:spPr>
          <a:xfrm>
            <a:off x="2166080" y="2226493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elvetica" pitchFamily="2" charset="0"/>
            </a:endParaRPr>
          </a:p>
        </p:txBody>
      </p:sp>
      <p:sp>
        <p:nvSpPr>
          <p:cNvPr id="6" name="Google Shape;72;p3">
            <a:extLst>
              <a:ext uri="{FF2B5EF4-FFF2-40B4-BE49-F238E27FC236}">
                <a16:creationId xmlns:a16="http://schemas.microsoft.com/office/drawing/2014/main" id="{E2DA2179-DB28-EA61-380B-FFA90B0074F2}"/>
              </a:ext>
            </a:extLst>
          </p:cNvPr>
          <p:cNvSpPr/>
          <p:nvPr/>
        </p:nvSpPr>
        <p:spPr>
          <a:xfrm>
            <a:off x="3245002" y="223877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" name="Google Shape;73;p3" descr="Boardroom with solid fill">
            <a:extLst>
              <a:ext uri="{FF2B5EF4-FFF2-40B4-BE49-F238E27FC236}">
                <a16:creationId xmlns:a16="http://schemas.microsoft.com/office/drawing/2014/main" id="{875BB0DB-6F54-3A68-A783-BD090EBB423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54730" y="236391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75;p3">
            <a:extLst>
              <a:ext uri="{FF2B5EF4-FFF2-40B4-BE49-F238E27FC236}">
                <a16:creationId xmlns:a16="http://schemas.microsoft.com/office/drawing/2014/main" id="{9C951143-5043-E7AB-C847-AE3E1E5E6235}"/>
              </a:ext>
            </a:extLst>
          </p:cNvPr>
          <p:cNvSpPr/>
          <p:nvPr/>
        </p:nvSpPr>
        <p:spPr>
          <a:xfrm>
            <a:off x="2007072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Write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Specs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75;p3">
            <a:extLst>
              <a:ext uri="{FF2B5EF4-FFF2-40B4-BE49-F238E27FC236}">
                <a16:creationId xmlns:a16="http://schemas.microsoft.com/office/drawing/2014/main" id="{11068B80-6760-C3D7-B284-FF582BCDBA06}"/>
              </a:ext>
            </a:extLst>
          </p:cNvPr>
          <p:cNvSpPr/>
          <p:nvPr/>
        </p:nvSpPr>
        <p:spPr>
          <a:xfrm>
            <a:off x="3085994" y="3046312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Partners with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Engineering</a:t>
            </a:r>
            <a:endParaRPr lang="en-US" sz="1000" b="0" i="0" u="none" strike="noStrike" cap="none" dirty="0">
              <a:solidFill>
                <a:srgbClr val="4B5690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73;p3" descr="Pen with solid fill">
            <a:extLst>
              <a:ext uri="{FF2B5EF4-FFF2-40B4-BE49-F238E27FC236}">
                <a16:creationId xmlns:a16="http://schemas.microsoft.com/office/drawing/2014/main" id="{C6628963-48DD-BB21-5C32-EC02498D5B78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277657" y="232179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0C6A59-1BA7-DFE6-5084-F0D1C02A0554}"/>
              </a:ext>
            </a:extLst>
          </p:cNvPr>
          <p:cNvSpPr/>
          <p:nvPr/>
        </p:nvSpPr>
        <p:spPr>
          <a:xfrm>
            <a:off x="1745526" y="3699724"/>
            <a:ext cx="1499476" cy="265246"/>
          </a:xfrm>
          <a:prstGeom prst="rect">
            <a:avLst/>
          </a:prstGeom>
          <a:solidFill>
            <a:srgbClr val="3D5A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LEGACY</a:t>
            </a:r>
          </a:p>
        </p:txBody>
      </p:sp>
      <p:sp>
        <p:nvSpPr>
          <p:cNvPr id="13" name="Google Shape;75;p3">
            <a:extLst>
              <a:ext uri="{FF2B5EF4-FFF2-40B4-BE49-F238E27FC236}">
                <a16:creationId xmlns:a16="http://schemas.microsoft.com/office/drawing/2014/main" id="{BCA0F743-F687-276D-70B9-8201A4D3B98D}"/>
              </a:ext>
            </a:extLst>
          </p:cNvPr>
          <p:cNvSpPr/>
          <p:nvPr/>
        </p:nvSpPr>
        <p:spPr>
          <a:xfrm>
            <a:off x="840863" y="4119179"/>
            <a:ext cx="3308802" cy="2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Scoped before AI absorbed the work.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71;p3">
            <a:extLst>
              <a:ext uri="{FF2B5EF4-FFF2-40B4-BE49-F238E27FC236}">
                <a16:creationId xmlns:a16="http://schemas.microsoft.com/office/drawing/2014/main" id="{45C0F914-FE56-87C7-7A5C-64FB5344FA53}"/>
              </a:ext>
            </a:extLst>
          </p:cNvPr>
          <p:cNvSpPr/>
          <p:nvPr/>
        </p:nvSpPr>
        <p:spPr>
          <a:xfrm>
            <a:off x="4783149" y="1261801"/>
            <a:ext cx="3727262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5" name="Google Shape;72;p3">
            <a:extLst>
              <a:ext uri="{FF2B5EF4-FFF2-40B4-BE49-F238E27FC236}">
                <a16:creationId xmlns:a16="http://schemas.microsoft.com/office/drawing/2014/main" id="{1E1FC372-859E-3EB3-7385-7C4C7DDB2CDA}"/>
              </a:ext>
            </a:extLst>
          </p:cNvPr>
          <p:cNvSpPr/>
          <p:nvPr/>
        </p:nvSpPr>
        <p:spPr>
          <a:xfrm>
            <a:off x="5234974" y="2220350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6" name="Google Shape;73;p3" descr="Workflow with solid fill">
            <a:extLst>
              <a:ext uri="{FF2B5EF4-FFF2-40B4-BE49-F238E27FC236}">
                <a16:creationId xmlns:a16="http://schemas.microsoft.com/office/drawing/2014/main" id="{6705267F-4ADC-B0B9-F1B5-14C4DFBC9BFA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44702" y="234548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4;p3">
            <a:extLst>
              <a:ext uri="{FF2B5EF4-FFF2-40B4-BE49-F238E27FC236}">
                <a16:creationId xmlns:a16="http://schemas.microsoft.com/office/drawing/2014/main" id="{6A2D0344-019B-B554-15A0-DBFFF314CEA7}"/>
              </a:ext>
            </a:extLst>
          </p:cNvPr>
          <p:cNvSpPr/>
          <p:nvPr/>
        </p:nvSpPr>
        <p:spPr>
          <a:xfrm>
            <a:off x="5641776" y="1630352"/>
            <a:ext cx="2000791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Manager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800" dirty="0">
                <a:solidFill>
                  <a:srgbClr val="CADD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(product operator profile)</a:t>
            </a:r>
            <a:endParaRPr sz="800" i="0" u="none" strike="noStrike" cap="none" dirty="0">
              <a:solidFill>
                <a:srgbClr val="CADDFC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5;p3">
            <a:extLst>
              <a:ext uri="{FF2B5EF4-FFF2-40B4-BE49-F238E27FC236}">
                <a16:creationId xmlns:a16="http://schemas.microsoft.com/office/drawing/2014/main" id="{B9110A78-FCAB-2756-68B5-D84EA883CF8F}"/>
              </a:ext>
            </a:extLst>
          </p:cNvPr>
          <p:cNvSpPr/>
          <p:nvPr/>
        </p:nvSpPr>
        <p:spPr>
          <a:xfrm>
            <a:off x="5117987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Designs AI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workflows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3">
            <a:extLst>
              <a:ext uri="{FF2B5EF4-FFF2-40B4-BE49-F238E27FC236}">
                <a16:creationId xmlns:a16="http://schemas.microsoft.com/office/drawing/2014/main" id="{71CE1F33-DE4A-A293-3420-1AA735A3539B}"/>
              </a:ext>
            </a:extLst>
          </p:cNvPr>
          <p:cNvSpPr/>
          <p:nvPr/>
        </p:nvSpPr>
        <p:spPr>
          <a:xfrm>
            <a:off x="6313896" y="2220350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elvetica" pitchFamily="2" charset="0"/>
            </a:endParaRPr>
          </a:p>
        </p:txBody>
      </p:sp>
      <p:sp>
        <p:nvSpPr>
          <p:cNvPr id="20" name="Google Shape;72;p3">
            <a:extLst>
              <a:ext uri="{FF2B5EF4-FFF2-40B4-BE49-F238E27FC236}">
                <a16:creationId xmlns:a16="http://schemas.microsoft.com/office/drawing/2014/main" id="{23A72F0B-76E3-A2BD-539F-8833B5415414}"/>
              </a:ext>
            </a:extLst>
          </p:cNvPr>
          <p:cNvSpPr/>
          <p:nvPr/>
        </p:nvSpPr>
        <p:spPr>
          <a:xfrm>
            <a:off x="7392818" y="2232635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1" name="Google Shape;73;p3" descr="Gavel with solid fill">
            <a:extLst>
              <a:ext uri="{FF2B5EF4-FFF2-40B4-BE49-F238E27FC236}">
                <a16:creationId xmlns:a16="http://schemas.microsoft.com/office/drawing/2014/main" id="{DBFD0568-F374-8FB5-68C8-E5DC8F52D9D5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02546" y="2357771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75;p3">
            <a:extLst>
              <a:ext uri="{FF2B5EF4-FFF2-40B4-BE49-F238E27FC236}">
                <a16:creationId xmlns:a16="http://schemas.microsoft.com/office/drawing/2014/main" id="{367D849B-114F-43B5-5879-444C2A98B016}"/>
              </a:ext>
            </a:extLst>
          </p:cNvPr>
          <p:cNvSpPr/>
          <p:nvPr/>
        </p:nvSpPr>
        <p:spPr>
          <a:xfrm>
            <a:off x="6154888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Curates AI Context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75;p3">
            <a:extLst>
              <a:ext uri="{FF2B5EF4-FFF2-40B4-BE49-F238E27FC236}">
                <a16:creationId xmlns:a16="http://schemas.microsoft.com/office/drawing/2014/main" id="{DD77F359-491B-6945-89C2-7FD8395FCCC1}"/>
              </a:ext>
            </a:extLst>
          </p:cNvPr>
          <p:cNvSpPr/>
          <p:nvPr/>
        </p:nvSpPr>
        <p:spPr>
          <a:xfrm>
            <a:off x="7233810" y="3040169"/>
            <a:ext cx="976384" cy="504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Decides human vs AI work</a:t>
            </a:r>
          </a:p>
        </p:txBody>
      </p:sp>
      <p:pic>
        <p:nvPicPr>
          <p:cNvPr id="24" name="Google Shape;73;p3" descr="Filter with solid fill">
            <a:extLst>
              <a:ext uri="{FF2B5EF4-FFF2-40B4-BE49-F238E27FC236}">
                <a16:creationId xmlns:a16="http://schemas.microsoft.com/office/drawing/2014/main" id="{CF757B0E-A216-35D1-7D40-ADCB7515F2C9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25473" y="2315647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F30F9B-8A95-CB3B-DA53-9DB91DB29786}"/>
              </a:ext>
            </a:extLst>
          </p:cNvPr>
          <p:cNvSpPr/>
          <p:nvPr/>
        </p:nvSpPr>
        <p:spPr>
          <a:xfrm>
            <a:off x="5690428" y="3705866"/>
            <a:ext cx="1903488" cy="265246"/>
          </a:xfrm>
          <a:prstGeom prst="rect">
            <a:avLst/>
          </a:prstGeom>
          <a:solidFill>
            <a:srgbClr val="5B8A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NEW STANDARD</a:t>
            </a:r>
          </a:p>
        </p:txBody>
      </p:sp>
      <p:sp>
        <p:nvSpPr>
          <p:cNvPr id="26" name="Google Shape;75;p3">
            <a:extLst>
              <a:ext uri="{FF2B5EF4-FFF2-40B4-BE49-F238E27FC236}">
                <a16:creationId xmlns:a16="http://schemas.microsoft.com/office/drawing/2014/main" id="{D9EE53E7-6B19-FA43-61AD-8B618D8CB16D}"/>
              </a:ext>
            </a:extLst>
          </p:cNvPr>
          <p:cNvSpPr/>
          <p:nvPr/>
        </p:nvSpPr>
        <p:spPr>
          <a:xfrm>
            <a:off x="4988679" y="4113036"/>
            <a:ext cx="3308802" cy="2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Specialized in the work AI makes more valuable.</a:t>
            </a:r>
            <a:endParaRPr sz="1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56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APPROACH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teams use IDEs – Why?</a:t>
            </a:r>
            <a:endParaRPr sz="3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87552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4754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Context = memory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Cursor reads your entire product folder. ChatGPT forgets every session. Models can be switched.</a:t>
            </a:r>
            <a:endParaRPr sz="105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505456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08960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86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596896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Version controlled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96896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are files. Git diffs show what changed, when, and why.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26864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30368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009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Composable commands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18304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Reusable prompt templates any PM on the team can trigger.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48272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51776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150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39712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with roles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9712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that read multiple files and produce analysis.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AI is only as good as the context you give it. The context lives in your files.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WHY CONTEXT MATTERS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Context is the ground truth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87552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280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4754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context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the product is, does, its constraints and personas. The stable ground truth.</a:t>
            </a:r>
            <a:endParaRPr sz="105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505456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08960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6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596896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Customer &amp; market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96896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Research, interviews, support tickets, churn surveys, competitive signal. The voice of the customer.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26864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30368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009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Strategy &amp; OKRs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18304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North Star, objectives, roadmap priorities. What matters right now — where renewal risk lives.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48272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51776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6150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39712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Process context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9712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Conventions, definition-of-done, the templates themselves. What your commands and agents encode.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Output quality is capped by context quality — and memory is the context that persists.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74320" y="182880"/>
            <a:ext cx="245059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201168"/>
            <a:ext cx="2450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BUILDING BLOCKS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" y="53035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Markdown · Commands · Agents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74320" y="1243584"/>
            <a:ext cx="4114800" cy="3584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is Markdown (.md)?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184708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Plain text with simple formatting — headings, bullets, bold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244144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Readable by humans. Parsed by AI. Diff-able by Git.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2920" y="303580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 Confluence. No Notion. No vendor lock-in.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363016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artifact in this workflow is a .md file.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4261104"/>
            <a:ext cx="3749040" cy="420624"/>
          </a:xfrm>
          <a:prstGeom prst="rect">
            <a:avLst/>
          </a:prstGeom>
          <a:solidFill>
            <a:srgbClr val="E8EFFE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42793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# Initiative  ·  **Bold**  ·  - bullet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63440" y="1243584"/>
            <a:ext cx="4160520" cy="16824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Commands  /create-initiative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120640" y="17647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Prompt templates stored as .md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Triggered with /. Deterministic structure.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Each command produces one artifact.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3072384"/>
            <a:ext cx="4160520" cy="17556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 @discovery-thinking-agent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20640" y="35935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with a specific role.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Run at decision points. Read multiple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Produce analysis — not just artifacts.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3168" y="1792224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3168" y="3621024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ORCHESTRATION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How the agents are orchestrated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87552" y="1481328"/>
            <a:ext cx="658368" cy="658368"/>
          </a:xfrm>
          <a:prstGeom prst="ellipse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280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4754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Sequential pipeline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we run. One step feeds the next; every artifact is the input to the one below.</a:t>
            </a:r>
            <a:endParaRPr sz="105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505456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08960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6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596896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Parallel fan-out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96896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Many agents run at once on independent sub-tasks, then results merge.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26864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30368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009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Hierarchical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18304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 orchestrator delegates to worker agents and assembles their output.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48272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51776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6150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39712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 network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9712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message each other freely. Powerful, but hard to trace and control.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Our choice: a deterministic, human-in-the-loop pipeline — traceable over autonomous.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74320" y="182880"/>
            <a:ext cx="2121408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201168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530352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Meet FleetMate</a:t>
            </a:r>
            <a:endParaRPr sz="3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1170432"/>
            <a:ext cx="5852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management SaaS for SMB trucking companies.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 for today's live workflow.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E8EFFE"/>
          </a:solidFill>
          <a:ln w="254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2" name="Google Shape;13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68580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27432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Driver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8872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7" name="Google Shape;13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6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38404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Navigate safely,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execute trips offline.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Dispatcher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3" name="Google Shape;14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24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331012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Assign trips, track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in real time.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2648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Owner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04088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232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623620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Control costs,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ensure compliance.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Today's initiative: drivers lose navigation when signal drops. #1 quality complaint · 3 consecutive quarters.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47472" y="256032"/>
            <a:ext cx="190195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7472" y="274320"/>
            <a:ext cx="19019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INITIATIVE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7472" y="621792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 Mode</a:t>
            </a:r>
            <a:endParaRPr sz="3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47472" y="1426464"/>
            <a:ext cx="73152" cy="256032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1426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PROBLEM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179222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Drivers lose navigation in tunnels,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rural roads &amp; industrial zones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241401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Switch to Google Maps mid-trip —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breaks dispatcher connection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30358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#1 quality complaint · 3 consecutive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quarters of churn surveys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36576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German fleet (50+ trucks) set offline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renewal pre-condition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6320" y="1335024"/>
            <a:ext cx="3977640" cy="32918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HYPOTHESIS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0" y="187452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If we deliver </a:t>
            </a: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 drivers on low-connectivity routes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 expect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App Store rating ≥ 4.5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and Offline Success Rate ≥ 90%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within 6 months of launch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because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reliability is the #1 driver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value driver — research-confirmed.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6700" y="4283964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47472" y="201168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47472" y="219456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WORKFLOW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47472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Artifact Chain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47472" y="113385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step is a file. Every file traces to the one above it.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92608" y="1609344"/>
            <a:ext cx="1572768" cy="24688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292608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Birth Certificate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/create-initiative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Problem · hypothesis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metrics · risks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865376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93392" y="1609344"/>
            <a:ext cx="1572768" cy="24688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993392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066544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Discovery Review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@discovery-agent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066544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Assumption test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decision points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566160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94176" y="1609344"/>
            <a:ext cx="1572768" cy="2468880"/>
          </a:xfrm>
          <a:prstGeom prst="rect">
            <a:avLst/>
          </a:prstGeom>
          <a:solidFill>
            <a:srgbClr val="4A52C0"/>
          </a:solidFill>
          <a:ln w="12700" cap="flat" cmpd="sng">
            <a:solidFill>
              <a:srgbClr val="4A52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94176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767328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/create-prd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767328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Requirements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success criteria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266944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394960" y="1609344"/>
            <a:ext cx="1572768" cy="24688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394960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68112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/create-epics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68112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Outcome-oriented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delivery chunks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967728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095744" y="1609344"/>
            <a:ext cx="1572768" cy="246888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095744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68896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User Stories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/create-user-stories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168896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7472" y="42976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Context  +  Customer Research  =  the AI's ground truth. Nothing is invented.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74320" y="182880"/>
            <a:ext cx="1463040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7432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EXTENSIONS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74320" y="53035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How to improve on this?</a:t>
            </a:r>
            <a:endParaRPr sz="2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74320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1298448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28" name="Google Shape;22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1024128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Jira Integration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24128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CSV import or REST API push.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 &amp; stories in Jira in one command.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18688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218688" y="1298448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3" name="Google Shape;23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85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3968496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 as a Spec Layer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968496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as PRs. Birth certificate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the PR description. Full audit trail.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163056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163056" y="1298448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8" name="Google Shape;23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422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6912864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UX Story Filter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912864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Reads stories, flags which need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design, generates Figma / AI design brief.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74320" y="3017520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3" name="Google Shape;243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1024128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Analytics Event Spec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24128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 notes in stories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formal analytics schema for engineers.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218688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218688" y="3017520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8" name="Google Shape;248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9856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3968496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Test Case Generator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968496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 ACs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auto-generated QA test cases.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163056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163056" y="3017520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53" name="Google Shape;253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4224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6912864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Planning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912864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Stories + MD estimates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 with capacity constraints.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4;p8">
            <a:extLst>
              <a:ext uri="{FF2B5EF4-FFF2-40B4-BE49-F238E27FC236}">
                <a16:creationId xmlns:a16="http://schemas.microsoft.com/office/drawing/2014/main" id="{BC4DBF43-7CAA-7676-036E-5CACFE5973BA}"/>
              </a:ext>
            </a:extLst>
          </p:cNvPr>
          <p:cNvSpPr/>
          <p:nvPr/>
        </p:nvSpPr>
        <p:spPr>
          <a:xfrm>
            <a:off x="347472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big one: evaluations — score every AI artifact against ground truth. The skeptic’s question, answered.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943600" y="-530550"/>
            <a:ext cx="4114800" cy="41148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56032"/>
            <a:ext cx="234086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47472" y="274320"/>
            <a:ext cx="234086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THANK YOU</a:t>
            </a:r>
            <a:endParaRPr sz="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7472" y="658368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Let’s continue the conversation.</a:t>
            </a:r>
            <a:endParaRPr sz="4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47472" y="2498298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244343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Building AI-native product 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endParaRPr lang="en-US" sz="1350" b="0" i="0" u="none" strike="noStrike" cap="none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47472" y="3028650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0080" y="297378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Exploring how product teams evolve in the AI era</a:t>
            </a:r>
          </a:p>
        </p:txBody>
      </p:sp>
      <p:sp>
        <p:nvSpPr>
          <p:cNvPr id="270" name="Google Shape;270;p9"/>
          <p:cNvSpPr/>
          <p:nvPr/>
        </p:nvSpPr>
        <p:spPr>
          <a:xfrm>
            <a:off x="347472" y="3559002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0080" y="350413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Sharing learnings from scaling products across SaaS, mobility, and B2B/B2C platforms</a:t>
            </a:r>
          </a:p>
        </p:txBody>
      </p:sp>
      <p:sp>
        <p:nvSpPr>
          <p:cNvPr id="272" name="Google Shape;272;p9"/>
          <p:cNvSpPr/>
          <p:nvPr/>
        </p:nvSpPr>
        <p:spPr>
          <a:xfrm>
            <a:off x="640080" y="450620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Open to VP Product / Managing Director roles and selected advisory work</a:t>
            </a:r>
          </a:p>
        </p:txBody>
      </p:sp>
      <p:pic>
        <p:nvPicPr>
          <p:cNvPr id="273" name="Google Shape;27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6792" y="126664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675120" y="1266643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github.com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sgutier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fleetmate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-product-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os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6792" y="159582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6675120" y="1595827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27d7e6-a434-421f-aecc-626c421db191}" enabled="1" method="Privileged" siteId="{c97a84f5-62bf-4715-beca-fc25af9516f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1032</Words>
  <Application>Microsoft Macintosh PowerPoint</Application>
  <PresentationFormat>On-screen Show (16:9)</PresentationFormat>
  <Paragraphs>198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Barguilla</dc:creator>
  <cp:lastModifiedBy>Barguilla Sergio</cp:lastModifiedBy>
  <cp:revision>10</cp:revision>
  <dcterms:created xsi:type="dcterms:W3CDTF">2026-04-09T11:04:10Z</dcterms:created>
  <dcterms:modified xsi:type="dcterms:W3CDTF">2026-06-15T14:14:02Z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PUBLIC</vt:lpwstr>
  </property>
</Properties>
</file>