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X/L8A94ySgQdpNQwQv4bEabyz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/>
    <p:restoredTop sz="94643"/>
  </p:normalViewPr>
  <p:slideViewPr>
    <p:cSldViewPr snapToGrid="0">
      <p:cViewPr varScale="1">
        <p:scale>
          <a:sx n="192" d="100"/>
          <a:sy n="192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1C62C-DEDE-82CC-C1F6-9BC806DACE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362450" y="63500"/>
            <a:ext cx="44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766560" y="-548640"/>
            <a:ext cx="3474720" cy="3474720"/>
          </a:xfrm>
          <a:prstGeom prst="ellipse">
            <a:avLst/>
          </a:prstGeom>
          <a:solidFill>
            <a:srgbClr val="252F7A"/>
          </a:solidFill>
          <a:ln w="12700" cap="flat" cmpd="sng">
            <a:solidFill>
              <a:srgbClr val="252F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WEBINAR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1061" y="1188780"/>
            <a:ext cx="75750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Product OS: Building a Full AI-Native Workflow Live in Cursor </a:t>
            </a: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endParaRPr sz="3600" b="1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4131" y="2496372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From product context to user stories—live, traceable, and AI-grounded</a:t>
            </a:r>
            <a:endParaRPr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754880"/>
            <a:ext cx="82296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CADCFC"/>
              </a:buClr>
              <a:buSzPts val="1100"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  · 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Product Leader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 · 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7099" y="758952"/>
            <a:ext cx="1005840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47472" y="256032"/>
            <a:ext cx="124358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47472" y="274320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ABOUT ME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47472" y="62179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 Barguilla</a:t>
            </a:r>
            <a:endParaRPr sz="36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1261872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AI-Native Product Leader | Former VP Product &amp; Managing Director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347472" y="1664208"/>
            <a:ext cx="5303520" cy="36576"/>
          </a:xfrm>
          <a:prstGeom prst="rect">
            <a:avLst/>
          </a:prstGeom>
          <a:solidFill>
            <a:srgbClr val="2E3D80"/>
          </a:solidFill>
          <a:ln w="12700" cap="flat" cmpd="sng">
            <a:solidFill>
              <a:srgbClr val="2E3D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472" y="380821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749807" y="1847088"/>
            <a:ext cx="34577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Built &amp; Scaled at Product Companies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749808" y="205673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20+ years building and scaling digital platforms — from large corporates to early-stage ventures to NASDAQ-listed trivago</a:t>
            </a:r>
          </a:p>
        </p:txBody>
      </p:sp>
      <p:pic>
        <p:nvPicPr>
          <p:cNvPr id="39" name="Google Shape;39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472" y="255117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749808" y="250545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Operated at Scale</a:t>
            </a:r>
          </a:p>
        </p:txBody>
      </p:sp>
      <p:sp>
        <p:nvSpPr>
          <p:cNvPr id="41" name="Google Shape;41;p2"/>
          <p:cNvSpPr/>
          <p:nvPr/>
        </p:nvSpPr>
        <p:spPr>
          <a:xfrm>
            <a:off x="749808" y="277474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500K+ MAU · €15M+ ARR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Multi-market expansion across 20+ countries</a:t>
            </a: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472" y="32095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749808" y="31638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Scope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749808" y="341985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Navigation · Mobility · SaaS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B2B, B2C, OEM &amp; Freemium models</a:t>
            </a: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195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49808" y="43708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Now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49808" y="4633490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CADCFC"/>
              </a:buClr>
              <a:buSzPts val="1100"/>
            </a:pP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product </a:t>
            </a: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lang="en-US" sz="1100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Independent · Advisory &amp; execution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123C05-9AD8-720E-B0BF-EADC0C0CC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84056" y="3113998"/>
            <a:ext cx="1310136" cy="34747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069BC9A-7541-A2DC-96D5-CA11D9054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84056" y="2059919"/>
            <a:ext cx="1071988" cy="30310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1CF6F2-247A-F560-7BE0-8B8A80A48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84056" y="2564548"/>
            <a:ext cx="809177" cy="288992"/>
          </a:xfrm>
          <a:prstGeom prst="rect">
            <a:avLst/>
          </a:prstGeom>
        </p:spPr>
      </p:pic>
      <p:sp>
        <p:nvSpPr>
          <p:cNvPr id="11" name="Google Shape;43;p2">
            <a:extLst>
              <a:ext uri="{FF2B5EF4-FFF2-40B4-BE49-F238E27FC236}">
                <a16:creationId xmlns:a16="http://schemas.microsoft.com/office/drawing/2014/main" id="{AFA5C31E-8251-58E0-2345-775C8CBA4612}"/>
              </a:ext>
            </a:extLst>
          </p:cNvPr>
          <p:cNvSpPr/>
          <p:nvPr/>
        </p:nvSpPr>
        <p:spPr>
          <a:xfrm>
            <a:off x="749808" y="378077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Leadership</a:t>
            </a:r>
          </a:p>
        </p:txBody>
      </p:sp>
      <p:sp>
        <p:nvSpPr>
          <p:cNvPr id="12" name="Google Shape;44;p2">
            <a:extLst>
              <a:ext uri="{FF2B5EF4-FFF2-40B4-BE49-F238E27FC236}">
                <a16:creationId xmlns:a16="http://schemas.microsoft.com/office/drawing/2014/main" id="{E48FA898-99E8-969E-8E74-BBD5C728CD29}"/>
              </a:ext>
            </a:extLst>
          </p:cNvPr>
          <p:cNvSpPr/>
          <p:nvPr/>
        </p:nvSpPr>
        <p:spPr>
          <a:xfrm>
            <a:off x="749808" y="4043436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VP Product &amp; Managing Director roles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Partnered with founders &amp; executive teams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EEA69E36-C2D7-3F51-00BD-BBFE521B2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4056" y="3741805"/>
            <a:ext cx="1310136" cy="133687"/>
          </a:xfrm>
          <a:prstGeom prst="rect">
            <a:avLst/>
          </a:prstGeom>
        </p:spPr>
      </p:pic>
      <p:sp>
        <p:nvSpPr>
          <p:cNvPr id="15" name="Google Shape;216;p7">
            <a:extLst>
              <a:ext uri="{FF2B5EF4-FFF2-40B4-BE49-F238E27FC236}">
                <a16:creationId xmlns:a16="http://schemas.microsoft.com/office/drawing/2014/main" id="{48AFEA72-2236-73B5-868C-EDF65D0783D1}"/>
              </a:ext>
            </a:extLst>
          </p:cNvPr>
          <p:cNvSpPr/>
          <p:nvPr/>
        </p:nvSpPr>
        <p:spPr>
          <a:xfrm>
            <a:off x="278560" y="229527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Designing how product </a:t>
            </a:r>
            <a:r>
              <a:rPr lang="en-US" sz="1100" b="0" i="1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r>
              <a:rPr lang="en-US" sz="1100" i="1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 operate in the AI era.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4320" y="182880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74320" y="201168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APPROACH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74320" y="5303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Why an IDE — not just ChatGPT?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4048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87552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475488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Context = memory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5488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 dirty="0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Cursor reads your entire product folder. ChatGPT forgets every session. Models can be switched.</a:t>
            </a:r>
            <a:endParaRPr sz="105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505456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108960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86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2596896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Version controlled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596896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are files. Git diffs show what changed, when, and why.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626864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30368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4009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4718304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Composable commands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718304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Reusable prompt templates any PM on the team can trigger.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48272" y="1298448"/>
            <a:ext cx="1920240" cy="3246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51776" y="1481328"/>
            <a:ext cx="658368" cy="658368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88" name="Google Shape;8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150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6839712" y="22860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with roles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839712" y="2706624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that read multiple files and produce analysis.</a:t>
            </a:r>
            <a:endParaRPr sz="10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AI is only as good as the context you give it. The context lives in your files.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74320" y="182880"/>
            <a:ext cx="245059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201168"/>
            <a:ext cx="2450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BUILDING BLOCKS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" y="53035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Markdown · Commands · Agents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274320" y="1243584"/>
            <a:ext cx="4114800" cy="35844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4320" y="124358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is Markdown (.md)?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184708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Plain text with simple formatting — headings, bullets, bold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02920" y="244144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Readable by humans. Parsed by AI. Diff-able by Git.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02920" y="303580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No Confluence. No Notion. No vendor lock-in.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02920" y="3630168"/>
            <a:ext cx="374904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artifact in this workflow is a .md file.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4261104"/>
            <a:ext cx="3749040" cy="420624"/>
          </a:xfrm>
          <a:prstGeom prst="rect">
            <a:avLst/>
          </a:prstGeom>
          <a:solidFill>
            <a:srgbClr val="E8EFFE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" y="4279392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# Initiative  ·  **Bold**  ·  - bullet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663440" y="1243584"/>
            <a:ext cx="4160520" cy="168249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663440" y="12435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Commands  /create-initiative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120640" y="17647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Prompt templates stored as .md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Triggered with /. Deterministic structure.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Each command produces one artifact.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663440" y="3072384"/>
            <a:ext cx="4160520" cy="17556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663440" y="307238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Agents  @discovery-thinking-agent</a:t>
            </a:r>
            <a:endParaRPr sz="12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120640" y="3593592"/>
            <a:ext cx="3611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Autonomous reasoners with a specific role.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Run at decision points. Read multiple files.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Produce analysis — not just artifacts.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3168" y="1792224"/>
            <a:ext cx="292608" cy="292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3168" y="3621024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274320" y="182880"/>
            <a:ext cx="2121408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274320" y="201168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74320" y="530352"/>
            <a:ext cx="5486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Meet FleetMate</a:t>
            </a:r>
            <a:endParaRPr sz="3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74320" y="1170432"/>
            <a:ext cx="5852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management SaaS for SMB trucking companies.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demo product for today's live workflow.</a:t>
            </a:r>
            <a:endParaRPr sz="13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583680" y="365760"/>
            <a:ext cx="2194560" cy="2194560"/>
          </a:xfrm>
          <a:prstGeom prst="ellipse">
            <a:avLst/>
          </a:prstGeom>
          <a:solidFill>
            <a:srgbClr val="E8EFFE"/>
          </a:solidFill>
          <a:ln w="254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2" name="Google Shape;132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3720" y="68580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27432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27432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Driver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8872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37" name="Google Shape;137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016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38404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Navigate safely,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execute trips offline.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20040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0040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Dispatcher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11480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3" name="Google Shape;143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624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331012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Assign trips, track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in real time.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26480" y="2011680"/>
            <a:ext cx="2697480" cy="2697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26480" y="2011680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 Owner</a:t>
            </a:r>
            <a:endParaRPr sz="1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040880" y="2606040"/>
            <a:ext cx="822960" cy="822960"/>
          </a:xfrm>
          <a:prstGeom prst="ellipse">
            <a:avLst/>
          </a:prstGeom>
          <a:solidFill>
            <a:srgbClr val="E8EFFE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2320" y="2697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6236208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Control costs,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ensure compliance.</a:t>
            </a:r>
            <a:endParaRPr sz="11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274320" y="4617720"/>
            <a:ext cx="85953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Today's initiative: drivers lose navigation when signal drops. #1 quality complaint · 3 consecutive quarters.</a:t>
            </a:r>
            <a:endParaRPr sz="115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347472" y="256032"/>
            <a:ext cx="1901952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7472" y="274320"/>
            <a:ext cx="190195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INITIATIVE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47472" y="621792"/>
            <a:ext cx="77724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 Mode</a:t>
            </a:r>
            <a:endParaRPr sz="34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47472" y="1426464"/>
            <a:ext cx="73152" cy="256032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48640" y="142646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PROBLEM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48640" y="1792224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Drivers lose navigation in tunnels,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rural roads &amp; industrial zones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48640" y="241401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Switch to Google Maps mid-trip —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breaks dispatcher connection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30358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#1 quality complaint · 3 consecutive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quarters of churn surveys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36576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→  German fleet (50+ trucks) set offline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renewal pre-condition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846320" y="1335024"/>
            <a:ext cx="3977640" cy="329184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0" y="1463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HYPOTHESIS</a:t>
            </a:r>
            <a:endParaRPr sz="9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0" y="187452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If we deliver </a:t>
            </a: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offline navigation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 drivers on low-connectivity routes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we expect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App Store rating ≥ 4.5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and Offline Success Rate ≥ 90%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within 6 months of launch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because 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reliability is the #1 driver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value driver — research-confirmed.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86700" y="4283964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47472" y="201168"/>
            <a:ext cx="1682496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47472" y="219456"/>
            <a:ext cx="1682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WORKFLOW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47472" y="548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The Artifact Chain</a:t>
            </a:r>
            <a:endParaRPr sz="3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47472" y="113385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Every step is a file. Every file traces to the one above it.</a:t>
            </a:r>
            <a:endParaRPr sz="13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92608" y="1609344"/>
            <a:ext cx="1572768" cy="24688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292608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Birth Certificate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84048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/create-initiative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365760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Problem · hypothesis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metrics · risks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865376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993392" y="1609344"/>
            <a:ext cx="1572768" cy="24688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1993392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2066544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Discovery Review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2084832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@discovery-agent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066544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Assumption test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decision points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566160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94176" y="1609344"/>
            <a:ext cx="1572768" cy="2468880"/>
          </a:xfrm>
          <a:prstGeom prst="rect">
            <a:avLst/>
          </a:prstGeom>
          <a:solidFill>
            <a:srgbClr val="4A52C0"/>
          </a:solidFill>
          <a:ln w="12700" cap="flat" cmpd="sng">
            <a:solidFill>
              <a:srgbClr val="4A52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94176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3767328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PRD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785616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/create-prd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767328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Requirements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success criteria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266944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394960" y="1609344"/>
            <a:ext cx="1572768" cy="24688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394960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5468112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0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/create-epics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68112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Outcome-oriented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delivery chunks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967728" y="2523744"/>
            <a:ext cx="182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095744" y="1609344"/>
            <a:ext cx="1572768" cy="2468880"/>
          </a:xfrm>
          <a:prstGeom prst="rect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095744" y="1700784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A8FD0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7A8FD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68896" y="2112264"/>
            <a:ext cx="142646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User Stories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solidFill>
            <a:srgbClr val="2A3A8A"/>
          </a:solidFill>
          <a:ln w="12700" cap="flat" cmpd="sng">
            <a:solidFill>
              <a:srgbClr val="2A3A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187184" y="2724912"/>
            <a:ext cx="1389888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/create-user-stories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7168896" y="3145536"/>
            <a:ext cx="14264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C4E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B0C4E8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7472" y="42976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Product Context  +  Customer Research  =  the AI's ground truth. Nothing is invented.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274320" y="182880"/>
            <a:ext cx="1463040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7432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EXTENSIONS</a:t>
            </a:r>
            <a:endParaRPr sz="8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274320" y="530352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What do I do next?</a:t>
            </a:r>
            <a:endParaRPr sz="2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74320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274320" y="1298448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28" name="Google Shape;22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488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1024128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Jira Integration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24128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CSV import or REST API push.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Epics &amp; stories in Jira in one command.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3218688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3218688" y="1298448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3" name="Google Shape;23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19856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3968496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 as a Spec Layer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968496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Artifacts as PRs. Birth certificate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as the PR description. Full audit trail.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163056" y="1298448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163056" y="1298448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38" name="Google Shape;23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4224" y="1591056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6912864" y="1463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UX Story Filter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912864" y="1847088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Reads stories, flags which need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design, generates Figma / AI design brief.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74320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274320" y="3017520"/>
            <a:ext cx="91440" cy="15544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3" name="Google Shape;243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488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1024128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Analytics Event Spec</a:t>
            </a:r>
            <a:endParaRPr sz="12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24128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Instrumentation notes in stories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formal analytics schema for engineers.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218688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218688" y="3017520"/>
            <a:ext cx="91440" cy="1554480"/>
          </a:xfrm>
          <a:prstGeom prst="rect">
            <a:avLst/>
          </a:prstGeom>
          <a:solidFill>
            <a:srgbClr val="5B8AF5"/>
          </a:solidFill>
          <a:ln w="12700" cap="flat" cmpd="sng">
            <a:solidFill>
              <a:srgbClr val="5B8A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48" name="Google Shape;248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19856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3968496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Test Case Generator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968496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Given/When/Then ACs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auto-generated QA test cases.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163056" y="3017520"/>
            <a:ext cx="2761488" cy="15544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FF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6163056" y="3017520"/>
            <a:ext cx="91440" cy="1554480"/>
          </a:xfrm>
          <a:prstGeom prst="rect">
            <a:avLst/>
          </a:prstGeom>
          <a:solidFill>
            <a:srgbClr val="3D5AE0"/>
          </a:solidFill>
          <a:ln w="12700" cap="flat" cmpd="sng">
            <a:solidFill>
              <a:srgbClr val="3D5A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pic>
        <p:nvPicPr>
          <p:cNvPr id="253" name="Google Shape;253;p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64224" y="3310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6912864" y="31821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Planning Agent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912864" y="3566160"/>
            <a:ext cx="18288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Stories + MD estimates →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69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4B5690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sprint plan with capacity constraints.</a:t>
            </a:r>
            <a:endParaRPr sz="1000" b="0" i="0" u="none" strike="noStrike" cap="none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4;p8">
            <a:extLst>
              <a:ext uri="{FF2B5EF4-FFF2-40B4-BE49-F238E27FC236}">
                <a16:creationId xmlns:a16="http://schemas.microsoft.com/office/drawing/2014/main" id="{BC4DBF43-7CAA-7676-036E-5CACFE5973BA}"/>
              </a:ext>
            </a:extLst>
          </p:cNvPr>
          <p:cNvSpPr/>
          <p:nvPr/>
        </p:nvSpPr>
        <p:spPr>
          <a:xfrm>
            <a:off x="3785616" y="29718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EVALUATIONS!!!!!!!</a:t>
            </a:r>
            <a:endParaRPr sz="12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943600" y="-530550"/>
            <a:ext cx="4114800" cy="4114800"/>
          </a:xfrm>
          <a:prstGeom prst="ellipse">
            <a:avLst/>
          </a:prstGeom>
          <a:solidFill>
            <a:srgbClr val="141A45"/>
          </a:solidFill>
          <a:ln w="12700" cap="flat" cmpd="sng">
            <a:solidFill>
              <a:srgbClr val="141A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56032"/>
            <a:ext cx="2340864" cy="256032"/>
          </a:xfrm>
          <a:prstGeom prst="rect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47472" y="274320"/>
            <a:ext cx="234086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1E2761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THANK YOU</a:t>
            </a:r>
            <a:endParaRPr sz="8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7472" y="658368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Let’s continue the conversation.</a:t>
            </a:r>
            <a:endParaRPr sz="40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47472" y="2498298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244343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Building AI-native product </a:t>
            </a:r>
            <a:r>
              <a:rPr lang="en-US" sz="1350" b="0" i="0" u="none" strike="noStrike" cap="none" dirty="0" err="1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organisations</a:t>
            </a:r>
            <a:endParaRPr lang="en-US" sz="1350" b="0" i="0" u="none" strike="noStrike" cap="none" dirty="0">
              <a:solidFill>
                <a:srgbClr val="FFFFFF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47472" y="3028650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40080" y="297378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1350"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Exploring how product teams evolve in the AI era</a:t>
            </a:r>
          </a:p>
        </p:txBody>
      </p:sp>
      <p:sp>
        <p:nvSpPr>
          <p:cNvPr id="270" name="Google Shape;270;p9"/>
          <p:cNvSpPr/>
          <p:nvPr/>
        </p:nvSpPr>
        <p:spPr>
          <a:xfrm>
            <a:off x="347472" y="3559002"/>
            <a:ext cx="164592" cy="164592"/>
          </a:xfrm>
          <a:prstGeom prst="ellipse">
            <a:avLst/>
          </a:prstGeom>
          <a:solidFill>
            <a:srgbClr val="CADCFC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" pitchFamily="2" charset="0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0080" y="350413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FFFFFF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Sharing learnings from scaling products across SaaS, mobility, and B2B/B2C platforms</a:t>
            </a:r>
          </a:p>
        </p:txBody>
      </p:sp>
      <p:sp>
        <p:nvSpPr>
          <p:cNvPr id="272" name="Google Shape;272;p9"/>
          <p:cNvSpPr/>
          <p:nvPr/>
        </p:nvSpPr>
        <p:spPr>
          <a:xfrm>
            <a:off x="640080" y="4506209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Open to conversations, collaborations, and selected advisory work</a:t>
            </a:r>
          </a:p>
        </p:txBody>
      </p:sp>
      <p:pic>
        <p:nvPicPr>
          <p:cNvPr id="273" name="Google Shape;27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6792" y="126664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/>
          <p:nvPr/>
        </p:nvSpPr>
        <p:spPr>
          <a:xfrm>
            <a:off x="6675120" y="1266643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github.com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sergiobarguilla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/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fleetmate</a:t>
            </a:r>
            <a:r>
              <a:rPr lang="en-US" sz="1100" b="0" i="0" u="none" strike="noStrike" cap="none" dirty="0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-product-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os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6792" y="159582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6675120" y="1595827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b</a:t>
            </a:r>
            <a:r>
              <a:rPr lang="en-US" sz="1100" b="0" i="0" u="none" strike="noStrike" cap="none" dirty="0" err="1">
                <a:solidFill>
                  <a:srgbClr val="CADCFC"/>
                </a:solidFill>
                <a:latin typeface="Helvetica" pitchFamily="2" charset="0"/>
                <a:ea typeface="Calibri"/>
                <a:cs typeface="Calibri"/>
                <a:sym typeface="Calibri"/>
              </a:rPr>
              <a:t>arguilla.com</a:t>
            </a:r>
            <a:endParaRPr sz="1100" b="0" i="0" u="none" strike="noStrike" cap="none" dirty="0">
              <a:solidFill>
                <a:schemeClr val="dk1"/>
              </a:solidFill>
              <a:latin typeface="Helvetica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D156D-F923-91FF-C522-5ACD0EDBB7AC}"/>
              </a:ext>
            </a:extLst>
          </p:cNvPr>
          <p:cNvSpPr txBox="1"/>
          <p:nvPr/>
        </p:nvSpPr>
        <p:spPr>
          <a:xfrm>
            <a:off x="6450893" y="391409"/>
            <a:ext cx="2345635" cy="73866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CREATE SERGIOBARGUILLA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27d7e6-a434-421f-aecc-626c421db191}" enabled="1" method="Privileged" siteId="{c97a84f5-62bf-4715-beca-fc25af9516f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776</Words>
  <Application>Microsoft Macintosh PowerPoint</Application>
  <PresentationFormat>On-screen Show (16:9)</PresentationFormat>
  <Paragraphs>157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Consolas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Barguilla</dc:creator>
  <cp:lastModifiedBy>Barguilla Sergio</cp:lastModifiedBy>
  <cp:revision>4</cp:revision>
  <dcterms:created xsi:type="dcterms:W3CDTF">2026-04-09T11:04:10Z</dcterms:created>
  <dcterms:modified xsi:type="dcterms:W3CDTF">2026-04-10T12:56:18Z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PUBLIC</vt:lpwstr>
  </property>
</Properties>
</file>